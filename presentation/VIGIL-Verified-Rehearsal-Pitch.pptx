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01943dda1e4db8" /><Relationship Type="http://schemas.openxmlformats.org/officeDocument/2006/relationships/extended-properties" Target="/docProps/app.xml" Id="Rce1d3f1194f648cc" /><Relationship Type="http://schemas.openxmlformats.org/officeDocument/2006/relationships/officeDocument" Target="/ppt/presentation.xml" Id="R473d9251be96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d482ba9bc4641"/>
  </p:sldMasterIdLst>
  <p:notesMasterIdLst>
    <p:notesMasterId xmlns:r="http://schemas.openxmlformats.org/officeDocument/2006/relationships" r:id="Rc110305d307d4923"/>
  </p:notesMasterIdLst>
  <p:sldIdLst>
    <p:sldId xmlns:r="http://schemas.openxmlformats.org/officeDocument/2006/relationships" id="256" r:id="R86e7dac28a7a4f59"/>
    <p:sldId xmlns:r="http://schemas.openxmlformats.org/officeDocument/2006/relationships" id="257" r:id="Rc3e94aeaa44146b3"/>
    <p:sldId xmlns:r="http://schemas.openxmlformats.org/officeDocument/2006/relationships" id="258" r:id="Rfc0e535da7184696"/>
    <p:sldId xmlns:r="http://schemas.openxmlformats.org/officeDocument/2006/relationships" id="259" r:id="R67ee705070024321"/>
    <p:sldId xmlns:r="http://schemas.openxmlformats.org/officeDocument/2006/relationships" id="260" r:id="R90a6736544864c30"/>
    <p:sldId xmlns:r="http://schemas.openxmlformats.org/officeDocument/2006/relationships" id="261" r:id="Rc96bf9bf67b94d1f"/>
    <p:sldId xmlns:r="http://schemas.openxmlformats.org/officeDocument/2006/relationships" id="262" r:id="Rdfda901eb31d4b26"/>
    <p:sldId xmlns:r="http://schemas.openxmlformats.org/officeDocument/2006/relationships" id="263" r:id="R7ec56619e89a47d7"/>
    <p:sldId xmlns:r="http://schemas.openxmlformats.org/officeDocument/2006/relationships" id="264" r:id="Rd5d34c82c0b24b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97e18f215e48ce" /><Relationship Type="http://schemas.openxmlformats.org/officeDocument/2006/relationships/slideMaster" Target="/ppt/slideMasters/slideMaster1.xml" Id="R903d482ba9bc4641" /><Relationship Type="http://schemas.openxmlformats.org/officeDocument/2006/relationships/notesMaster" Target="/ppt/notesMasters/notesMaster1.xml" Id="Rc110305d307d4923" /><Relationship Type="http://schemas.openxmlformats.org/officeDocument/2006/relationships/presProps" Target="/ppt/presProps.xml" Id="R8098f0cdd9d3412f" /><Relationship Type="http://schemas.openxmlformats.org/officeDocument/2006/relationships/tableStyles" Target="/ppt/tableStyles.xml" Id="R537fee600cd14b53" /><Relationship Type="http://schemas.openxmlformats.org/officeDocument/2006/relationships/slide" Target="/ppt/slides/slide1.xml" Id="R86e7dac28a7a4f59" /><Relationship Type="http://schemas.openxmlformats.org/officeDocument/2006/relationships/slide" Target="/ppt/slides/slide2.xml" Id="Rc3e94aeaa44146b3" /><Relationship Type="http://schemas.openxmlformats.org/officeDocument/2006/relationships/slide" Target="/ppt/slides/slide3.xml" Id="Rfc0e535da7184696" /><Relationship Type="http://schemas.openxmlformats.org/officeDocument/2006/relationships/slide" Target="/ppt/slides/slide4.xml" Id="R67ee705070024321" /><Relationship Type="http://schemas.openxmlformats.org/officeDocument/2006/relationships/slide" Target="/ppt/slides/slide5.xml" Id="R90a6736544864c30" /><Relationship Type="http://schemas.openxmlformats.org/officeDocument/2006/relationships/slide" Target="/ppt/slides/slide6.xml" Id="Rc96bf9bf67b94d1f" /><Relationship Type="http://schemas.openxmlformats.org/officeDocument/2006/relationships/slide" Target="/ppt/slides/slide7.xml" Id="Rdfda901eb31d4b26" /><Relationship Type="http://schemas.openxmlformats.org/officeDocument/2006/relationships/slide" Target="/ppt/slides/slide8.xml" Id="R7ec56619e89a47d7" /><Relationship Type="http://schemas.openxmlformats.org/officeDocument/2006/relationships/slide" Target="/ppt/slides/slide9.xml" Id="Rd5d34c82c0b24b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a0ea5d84884b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679c76b1f48a9" /><Relationship Type="http://schemas.openxmlformats.org/officeDocument/2006/relationships/notesMaster" Target="/ppt/notesMasters/notesMaster1.xml" Id="R24f57e19a0e64e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94a81ccf04618" /><Relationship Type="http://schemas.openxmlformats.org/officeDocument/2006/relationships/notesMaster" Target="/ppt/notesMasters/notesMaster1.xml" Id="Raf8fb8aa31cb43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2772018b4c4d05" /><Relationship Type="http://schemas.openxmlformats.org/officeDocument/2006/relationships/notesMaster" Target="/ppt/notesMasters/notesMaster1.xml" Id="R89b6f09fabd8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b38e480da4b34" /><Relationship Type="http://schemas.openxmlformats.org/officeDocument/2006/relationships/notesMaster" Target="/ppt/notesMasters/notesMaster1.xml" Id="R30132d14060a4f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f97c9949d488d" /><Relationship Type="http://schemas.openxmlformats.org/officeDocument/2006/relationships/notesMaster" Target="/ppt/notesMasters/notesMaster1.xml" Id="R8f2bbaceb59548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8bdd1d73144ec0" /><Relationship Type="http://schemas.openxmlformats.org/officeDocument/2006/relationships/notesMaster" Target="/ppt/notesMasters/notesMaster1.xml" Id="R8cd1f88ec94b48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3748d1a934c6e" /><Relationship Type="http://schemas.openxmlformats.org/officeDocument/2006/relationships/notesMaster" Target="/ppt/notesMasters/notesMaster1.xml" Id="R5eb5a6fd73404d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8ab92ae5eb4994" /><Relationship Type="http://schemas.openxmlformats.org/officeDocument/2006/relationships/notesMaster" Target="/ppt/notesMasters/notesMaster1.xml" Id="R3497ade8de9f4c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e843908aa40b9" /><Relationship Type="http://schemas.openxmlformats.org/officeDocument/2006/relationships/notesMaster" Target="/ppt/notesMasters/notesMaster1.xml" Id="R1cf432a3a1c8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clock, not alert volume. This deck reports only verified rehearsal evidence. Do not claim the current rehearsal satisfies the AWS-LLM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RBI Notification 13643 (2026 commercial-bank cybersecurity directions)</a:t>
            </a:r>
          </a:p>
          <a:p xmlns:a="http://schemas.openxmlformats.org/drawingml/2006/main">
            <a:r>
              <a:t>- CERT-In Directions No. 20(3)/2022-CERT-In, direction (ii)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'two clocks' but do not imply the RBI commercial-bank Directions cover every bank class. CERT-In's public Incident Reporting Form is guidance and is not mandatory to fill or 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https://www.rbi.org.in/Scripts/NotificationUser.aspx?Id=13643&amp;Mode=0</a:t>
            </a:r>
          </a:p>
          <a:p xmlns:a="http://schemas.openxmlformats.org/drawingml/2006/main">
            <a:r>
              <a:t>- https://www.cert-in.org.in/PDF/CERT-In_Directions_70B_28.04.2022.pdf</a:t>
            </a:r>
          </a:p>
          <a:p xmlns:a="http://schemas.openxmlformats.org/drawingml/2006/main">
            <a:r>
              <a:t>- https://www.cert-in.org.in/PDF/certinirform.pdf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synthetic-data label. The ₹11.6 lakh figure is a sum of suspicious UPI fixture records linked by the scenario; it is not proven fraud or loss. Three EQL building blocks exist but are not included in the three-final-alert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differentiator. We do not promise zero hallucinations; we demonstrate that the system found and contained overclaiming in its own AI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submitted architecture showed six agents, MCP, EKS, KMS, S3 Object Lock, and Sarvam. The current rehearsal does not. This is the accurate implemented architecture. The workflow uses a managed Elastic connector today; AWS-hosted LLM integration remains required for the judged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https://www.elastic.co/docs/explore-analyze/ai-features/agent-builder/agents-and-workflows</a:t>
            </a:r>
          </a:p>
          <a:p xmlns:a="http://schemas.openxmlformats.org/drawingml/2006/main">
            <a:r>
              <a:t>- https://www.elastic.co/docs/explore-analyze/workflows/authoring-techniques/human-in-the-loop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identifiers let a technical judge inspect the rehearsal evidence. The 70.9-second value is one controlled run, not a benchmark. Token usage was 18,968 input and 2,884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AMA explicitly asked teams to know source, format, fields, currency, and permission. This slide answers that. STIX 2.1/TAXII may remain future integration scope, but it is not a filing requirement in the CERT-In public direction or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https://www.elastic.co/guide/en/ecs/current/ecs-reference.html</a:t>
            </a:r>
          </a:p>
          <a:p xmlns:a="http://schemas.openxmlformats.org/drawingml/2006/main">
            <a:r>
              <a:t>- https://www.cert-in.org.in/PDF/certinirform.pdf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'tamper-evident' and 'independently verifiable.' Do not say immutable, WORM, KMS-signed, or audit-proof in the current rehearsal.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accountability, not a score promise. If the AWS-hosted LLM path has been demonstrated during the event, update this slide with the exact model, region, and connector/endpoint evidence. Otherwise keep the gap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923903418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dc23099a84d74" /><Relationship Type="http://schemas.openxmlformats.org/officeDocument/2006/relationships/slideLayout" Target="/ppt/slideLayouts/slideLayout1.xml" Id="Reb49aabc846941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9aabc846941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9fce8a09146cc" /><Relationship Type="http://schemas.openxmlformats.org/officeDocument/2006/relationships/notesSlide" Target="/ppt/notesSlides/notesSlide1.xml" Id="Rf56479aa49b9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7acbee9494a2c" /><Relationship Type="http://schemas.openxmlformats.org/officeDocument/2006/relationships/notesSlide" Target="/ppt/notesSlides/notesSlide2.xml" Id="Rbdce2c56b43743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82565c1d44b7e" /><Relationship Type="http://schemas.openxmlformats.org/officeDocument/2006/relationships/notesSlide" Target="/ppt/notesSlides/notesSlide3.xml" Id="Re9e3d6841763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707f4cf5a44c9" /><Relationship Type="http://schemas.openxmlformats.org/officeDocument/2006/relationships/notesSlide" Target="/ppt/notesSlides/notesSlide4.xml" Id="R757b820597a6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2a4b8ff504611" /><Relationship Type="http://schemas.openxmlformats.org/officeDocument/2006/relationships/notesSlide" Target="/ppt/notesSlides/notesSlide5.xml" Id="R9de1d0f241a043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68a07b8ef41d4" /><Relationship Type="http://schemas.openxmlformats.org/officeDocument/2006/relationships/notesSlide" Target="/ppt/notesSlides/notesSlide6.xml" Id="R6ebfe46e3db244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e59192b7540eb" /><Relationship Type="http://schemas.openxmlformats.org/officeDocument/2006/relationships/notesSlide" Target="/ppt/notesSlides/notesSlide7.xml" Id="Rb9c9c1eaaae2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8f38de8634181" /><Relationship Type="http://schemas.openxmlformats.org/officeDocument/2006/relationships/notesSlide" Target="/ppt/notesSlides/notesSlide8.xml" Id="R8959138393524c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95279934843c8" /><Relationship Type="http://schemas.openxmlformats.org/officeDocument/2006/relationships/notesSlide" Target="/ppt/notesSlides/notesSlide9.xml" Id="R493c096cf48044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A89AB-D168-49E4-ABF6-CBCECC19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748C5-6DF7-4186-AEB6-FA9D793C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7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PRIVATE REHEARSAL · 7 SEP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F0376-AD38-42CE-965C-89D48D7E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VIGIL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29A3F-3671-4282-AB77-5E329C4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Evidence before conclusions.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61D91-C918-44A6-AE33-ADDFB66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76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An accountable incident-response layer for Indian bank SOC teams—built on Elastic, designed to stop at human judgment.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E6A3B-E295-4144-A093-41429419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33450"/>
            <a:ext cx="3143250" cy="4286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4629-3D58-4DC6-B141-9280EE3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TWO SIX-HOUR CLOCKS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5EF88-BE77-4643-AF81-484EE1F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00079-07F5-4FEB-9966-9C91C57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DAKSH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BDD41-1959-406A-AE13-C2399F7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from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E297A-29FE-4566-B694-C60E0465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31E5F-EB43-40A3-944B-1F5C500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CERT-In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AEF68-5FDF-43F7-B766-CF2401DA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from noticing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DD749-698F-4800-99CB-D25D8A12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29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Draft · review ·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E0087-DD87-4B61-AEC5-B4E51C8F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8DEA1-3327-4309-9DFA-BA1DE51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DB251-7558-4F71-AB44-7305FBFC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6310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0093A-7188-4E3B-B6F9-12D1AFE9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THE OPERATING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3BE3-FA89-43AC-A8F3-B206AE3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Two clocks. Different anchors.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03E52-A95A-4CD0-9808-4C7FAB5B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The prototype prepares evidence; an authorized human remains responsible for reporting.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4D4A0-67DB-4C91-BA92-D47713F9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95875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012EB-8EE7-4992-AC50-825D4FC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F3661-3CAD-4E9D-A288-02FF463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43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RBI DAKSH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7948B-F288-4A1E-81F7-E80DB0F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Within six hours of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C36E1-4AFA-4B0A-B66C-45DDCF49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333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Applies to banks covered by the 2026 commercial-bank Directions. The same provision also requires proactive CERT-In notification.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B87C2-D42D-492D-9447-64889B1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52625"/>
            <a:ext cx="5095875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102D5-A736-4C0F-B1F6-2BA01130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907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3F8E7-DBF6-4CE4-B11C-2034E477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43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CERT-In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74380-F31F-4351-A6B3-4705FD2C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8575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Within six hours of noticing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207E5-5FDF-4FB9-BC57-93F35192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48050"/>
            <a:ext cx="4333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For incident types listed in Annexure I—including unauthorized access and incidents affecting digital-payment systems.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B6F11-2359-4DC4-A2A1-F6BE65A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742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51C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1A408-2565-49DC-AA07-3CE9CFB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VIGIL does not auto-file. It builds a reviewable evidence package and preserves the analyst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8D127-8041-4FD3-9A3D-F6BB651C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5624C-6318-4931-8E0E-2AB56B74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F2214-0CE6-4D06-ABAB-B684461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Primary-source wording; scope qualifiers retained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C7222-0546-43B0-8291-48CE0420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0393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EA541F-7E16-4C9C-9132-B61A9685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LIVE ELASTIC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2BC5B-8C08-4456-B604-12C5CEAB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What the rehearsal actually proved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EE1EF-BB48-426B-9059-6C9EF57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One fixed synthetic scenario, one saved dashboard, one inspectable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817B1-4496-4C9F-90B5-4668A565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7437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0A1524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663C8-9DAF-40EC-A372-274D049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SYNTHETIC PAYMENT COMPROMISE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AAAB-A5F6-4DD6-92F3-8D723552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Evidence before 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8A19-B36D-4449-8E0D-E61BDA8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7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Sanitized public view · live environment capture retained privately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B096F-D5A3-4DF6-829D-1ECBD3B6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051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FC81E-1E7D-4F1D-B642-583CC524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20702-F4D9-4291-A64B-B0F1CF5F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correlated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3A895-1F56-4B0F-A25C-A9375F9C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BBC2A-9D4F-472E-B065-97A65A42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₹11,60,000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15A72-2B6E-439C-8313-6B64CD8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suspicious UPI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396B2-7104-4181-8568-E639089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2577E-4D2B-4055-9C92-456258A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002FF-AE6C-4A3D-92CE-CC08420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affected 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62986-76B8-407F-B790-4309F22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624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Synthetic evidence timeline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78E26-B2D3-4890-9AAB-FC8586A8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75A00-9408-42FE-8250-429277C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C77F-2D79-4A37-B9E2-0153BA00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C6911-8207-4D74-9356-D014416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AD3EE-A45F-4A16-8F4A-5D66625D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1A17D-186B-4FF4-945A-4414420E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19675"/>
            <a:ext cx="25717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0">
            <a:solidFill>
              <a:srgbClr val="2941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DAA2B-CFC5-4E79-AEBF-BE8F5363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4EADF-F7F8-4E60-BDF0-FA29B40D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19675"/>
            <a:ext cx="25717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0">
            <a:solidFill>
              <a:srgbClr val="2941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4CA1E-E13D-47A3-AFFA-48FC32B6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C993D-1585-476C-A2CB-DA738917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019675"/>
            <a:ext cx="25717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0">
            <a:solidFill>
              <a:srgbClr val="2941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85317-0C30-4A17-BD22-B74D8D9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19675"/>
            <a:ext cx="25717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0">
            <a:solidFill>
              <a:srgbClr val="2941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E3D98-B804-4922-BDB5-851A8F26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28ACA-B8BF-4BAE-AFD4-FCCC2554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CFC2E6-4532-4CDF-9421-2AE0B1C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DA685-5FF0-4D7C-87DC-EBC5E2F7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F2BF2-4190-49A4-84AD-26B333B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505325"/>
            <a:ext cx="257175" cy="590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1C7C2"/>
          </a:solidFill>
          <a:ln xmlns:a="http://schemas.openxmlformats.org/drawingml/2006/main" w="0">
            <a:solidFill>
              <a:srgbClr val="51C7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61352-2DB8-4255-B8B5-C1C0475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619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E58949-4931-4AA0-9948-F569904A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136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07393-65A8-414C-9BA1-33F1ECF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240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synthetic ECS-aligned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3C4EE9-EE4A-4E83-92D0-6BEADFDF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619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5F2E4F-82ED-46CA-BDEF-8DB0A922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4A007-AF09-4A22-ADC0-27BFB53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765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final behaviour alerts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56F6A2-1A9C-4EC7-8C48-0E18C2C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619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B91856-FFA7-4919-901E-09567A9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1AF388-2452-4161-8EAB-554EC263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potential discovery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79A374-A764-4E64-BFFE-A4C6541C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619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068EE2-B3A5-4639-A19C-13FA4C92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9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₹11.6L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0C733-0446-41CC-8270-240A82AB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UPI fixture value · 5 accounts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2393D5-CD8F-439A-94A3-39FC1E9C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619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51C7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1258B7-1DF4-483C-AEA1-3B6068C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12 CORRELATED EVIDENCE EVENTS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C95D45-B5FA-4902-9DA6-50CED399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E9E0AB-F46D-4C11-9289-A682AF1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EF4515-347B-43A8-BBA2-2D9A721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Elastic/Kibana 9.6.0 · synthetic rehearsal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AABC36-D732-4277-B59F-D33387D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7645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95A245-D66D-416B-BC66-0BABAF6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THE PRODUCT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D71B3-B570-45FE-8A61-F7C649A0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Attack Discovery is a lead—not a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9020D-A82F-4BD2-A962-C7B2A28C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keeps the speed of AI and makes certainty earn its way into the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2336C-1D54-4135-8F0B-4AF2211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F0A8B-B4EC-4687-A0A8-DF41EF26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AI 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0AF7A-9B49-4312-A2C8-F3C7354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Useful correlation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E88A9-6642-4FCF-9C64-6391B628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But five phrases crossed the certainty line: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2F932-8D4A-4B2D-9C19-A7603560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1095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E5433-7B13-4765-943B-59234EA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confirmed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B07C8-E7CC-4A38-914C-65B8C31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1095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AAD86-D68D-4DA4-8A04-D2A3A0B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766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fraudulent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1EDA5-9D12-443A-8FA3-AE301500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1095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7943C-3D9A-465B-8E1C-FFBDEDD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attacker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0E6EB-2221-40F0-B460-E986425D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57675"/>
            <a:ext cx="1095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F0F7D-F9D9-4AC4-A5E6-18102774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compromised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9E625-9730-4120-BDF8-41D7212E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1095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E91E9-C98F-48B9-955E-0C16E9C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malicious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02B8F-27B2-438A-8E73-2EDDC7C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BB9E7-47A1-4828-9E11-3A473CE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solidFill>
              <a:srgbClr val="FFB4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59284-D24F-4F03-975B-7CC74365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667000" cy="3143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5120A-466E-4291-871E-B13B47A1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Deterministic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0866B-6C2C-486D-9F69-62416119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Recompute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D190C-E343-424B-A73D-F4BCD63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Numbers come from ES|QL and indexed evidence—not generated prose.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38E2B-C36E-497C-A623-F5E6D757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Cite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D6F45-380F-419D-8BF9-6E477BB2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6245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Alert IDs and case evidence remain attached.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FCC2A-A5BD-4BEE-A94B-0BED9E66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623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104DD-E8C5-48CB-A477-A0AFF85E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solidFill>
              <a:srgbClr val="FFB45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3B7FA-0B23-4AC8-96B1-2FF2705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6C23C-0755-4E03-AFF9-06191D8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Human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243FE-D137-47E1-9A4C-50D5C30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0512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HOLD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417ED5-F0A7-4678-A793-453464EA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3380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No containment. No regulator submission. The uncertainty is recorded instead of hidden.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5CC84D-55F9-4734-A96A-6216AC45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674EC-26CA-49AF-AEFD-041EC458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53ABC-7727-4F72-890F-EE0058D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Guardrail output: 5 unsupported-certainty phrases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B729A-3033-4BDE-A1A1-DBFDEFF2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9914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BE752A-A6B2-45D4-A715-77D3026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140C4-5864-498F-A6E8-77C51B9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One workflow, accountable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033F1-1934-49B2-8F23-0C627B2B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Native Elastic primitives do the platform work; VIGIL adds bank-specific controls around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FB231-4144-490A-82E2-42E2A7AA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28400-A506-433C-97C4-4C0F7425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3CAA2-D846-494E-95BD-2A73A10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Synthetic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BF72F-2B32-49A9-A90C-191B8A27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ECS + bank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0E61E-E983-4F3E-BBFF-EBADC9E9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9087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CF37E-D7EE-4F87-B84D-1C0D5E3F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14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4D0B2-A26E-4091-A0CF-27462C6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208A4-D7C8-4506-8B2B-C507D09D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D54C0-3206-4450-A7DF-13890AE3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Elastic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07C20-4405-4450-9F6D-F1C3037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rules + alerts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0A60E-A6BB-4E9A-BBDC-894489B2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9087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12966-6DB0-4347-ABB8-E13909E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A612A-CA24-45C3-98E4-E3AE9045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7A69D-4370-49D8-9C1C-90AE3992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A08D7-892F-4CBE-A2E4-24F1B5A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Attack 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D31C9-A9D1-4C67-ABCD-9EE181D9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potential 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4FC08-D79C-479E-80C7-28FB74E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9087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7E9F5-E9CC-4F07-BC38-47BAE04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14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1BF99-6F4A-4321-A347-B585BCF3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8A852-5BA2-4FDA-867A-E7112CAD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31787-83A9-4F91-A32F-6B4A4B23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ES|QL pivot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DFC23-64B7-4A47-A37C-F88ADB46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₹ + accounts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08452-B161-41BE-9EAD-70B9C8AB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9087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5634E-9D8A-43E9-B708-A5507972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5DE6C-F271-47B0-8F86-454D5A99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9D7AC-5E8E-4291-9123-13857F6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63104-4879-4B3D-9BDF-6C196DAF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Agent Builder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33F56-D2BB-4F01-A56D-4A3FEF38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5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grounded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EA610-2DAB-447B-93C6-126733B5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9087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06B74F-ECD4-40C7-95FC-B48F10F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EC871A-8790-442C-A7CF-964A06AB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52440A-FBF7-4C32-AF4B-25FCC1E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5ED2C9-2DB7-415E-9713-DD010F74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Human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F126D1-5D8B-484D-ADE2-A80206E1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approve/hold/reject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EB923-56C9-4501-9124-83A92D7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9087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530FB4-110B-4F78-AEB7-8E321B27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14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FA40EB-0825-4D5D-9AD3-ACCAA737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257300" cy="16192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30E805-3364-42B5-8A7B-B283CF6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1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FBADD5-0717-4285-B1F2-9E5DF6D3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Evidence chain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B43320-14DA-456A-AA42-777BC3F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7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verify / tamper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62E50-9AAB-4388-B49D-4A798C21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57700"/>
            <a:ext cx="8286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51C7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0C9256-07BF-495A-9460-E6358AAC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Fail closed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001D93-4A04-480A-B6FD-AFE9AE6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33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Missing evidence, unsupported certainty, or absent human input stops the path. Destructive and external actions stay disabled in the rehearsal.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1A359F-175A-4A8B-9695-BA47882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EE0C37-94E5-4F5F-9C4D-D9B1A0C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F8F125-B385-4C77-952B-578AD094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Elastic 9.6 · workflow saved disabled outside controlled tests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B580B-0C63-4C2F-8510-D2369FCC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1186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EE0663-F019-4D72-8137-BEF8B2BA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EXECUTION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0D808-13FC-4071-BE46-6516D3C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The human gate is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34BC-7A9C-4269-AF1B-96FBA77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 controlled full-chain run paused, accepted HOLD, and completed without an external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77B9F-84D9-4912-B239-95EED552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524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77455-2A09-429C-BCF9-E01EE5D7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2794F-3D3F-4831-9300-46A3CAA2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A98F7-D099-449F-A30B-3D56F63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8F500-ACE5-4944-A68A-2C26DE82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36D91-BC5B-405F-BD86-553E7EAC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524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15372-015A-4500-BB2A-6B0F0ADE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3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36F1D-9CC4-46F1-A48C-4E221C8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attached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4077D-872F-497D-9DED-C7EF5BD3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E11FD-0B0E-425A-9D04-2E85250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470E9-FBA0-4EA1-80F1-F2E2A611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1524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7B1C4-6292-48E3-8C3E-4A47CE48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27515-F7A8-43C2-B3A6-78F47C8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reasoned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54F8F-FE72-4C4A-928C-1635531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24FD9-CA78-4936-A69D-BE1E8B2A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322E6-D868-4087-96A5-DE788F7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524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A9026-4C5C-4EB1-8530-63D00500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65BA4-A005-4294-B834-6271C790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for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B80F7-F9F9-41CA-9EA1-9C1EC83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5F7CB-612F-4E5E-863D-CD81EDD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CA166-17F5-4732-9379-64B22FC5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1524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4CA39-D75B-42D7-A2E5-66875B2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DA853-B7F4-4EE7-A4A3-EF0C0708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selected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2B130-E679-4693-B1B4-18B8B2D4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AC3F0-FA40-4A5B-9D37-BEC2E59E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D1D3D-D90C-4039-B5BF-CEFA5174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524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5F8F2-33F7-442D-9F48-D2C1648D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8 STEPS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1277C-59E4-4A7E-AAB9-5F5C5C5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28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786BC7-82B8-4229-A62F-1851C5F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204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5ABD85-81E4-4630-AC76-82D14F3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170E34-E9E6-4A51-8D3B-7797A32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957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Execution and Case IDs retained in the private rehearsal log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EC7C2F-A614-4F7C-8D15-B8836AF8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Public deck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711F7-69C5-4BDD-8231-F5DD7063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339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Environment identifiers removed before repository publication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2DFB9-72B3-48DD-9B94-12AE9A7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2571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9525">
            <a:solidFill>
              <a:srgbClr val="51C7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7E738B-1AE5-45BE-B5F3-D1D627D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48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70.9s CONTROLLED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9B337E-3E0B-4D7B-9C56-D6A81BF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21,852 LLM tokens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CF772B-5DD9-45FD-B98F-0E8D92A4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B76B47-DEBE-416C-83FD-6C785E05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D840A7-0D31-4639-BD7F-82B5DBB4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Observed state transition · waiting_for_input → completed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070D7C-72B2-4BE2-B6DA-6A0DD40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4788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963C5-4C49-44D6-B5BD-19E1AAA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REAL-WORLD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7C603-1337-44B9-BF00-A9A00878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Synthetic, but structurally honest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53F33-5600-46BA-A117-F9022474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We preserve the interfaces the product needs without pretending to possess bank production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BAA28-DD57-472E-8222-5815718B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31239-5432-459B-A623-6D6AFEC0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WHAT WE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8D6E6-D009-4567-A692-C738781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HONEST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D1322-6B7E-422D-A0CF-82FA124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CDFC3-53B9-4A2F-ABA5-6634834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CA7FA-6142-4633-82AF-E5C829C5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Security telemetry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DCBB2-9B9C-4C05-AC3D-1342A21C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ECS-aligned events: auth, process/network context,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AAE5B-02F2-4074-AB73-2CCD057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Not a claim of production volume or a fraud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ECC7C-2A55-475A-A5C5-161120A5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77FCD-4631-46A8-8C73-1BCAAAF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9B"/>
          </a:solidFill>
          <a:ln xmlns:a="http://schemas.openxmlformats.org/drawingml/2006/main" w="0">
            <a:solidFill>
              <a:srgbClr val="62D4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83BD7-4D8A-40E6-A659-507D88D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Bank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16E66-1723-4766-935E-0405E28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Explicit lookup fields for account, tier, UPI batch, amount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C7135-D78B-432C-B863-6B1B2928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Not NPCI wire format; validate per bank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BC889-1EEB-4A27-A1FB-DC0B5D58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4EE18-2689-43D3-BC24-494851C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solidFill>
              <a:srgbClr val="FFB4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6EAA9-8833-4D8E-9324-3D42928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Regulator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50ADB-3F55-495E-91BF-341295C8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Fields from CERT-In’s public Incident Reporting Form + DAKSH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03DFF-7678-42F0-9961-AF6B695E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Review-only; not an official filing or portal submission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656F1-D34E-410F-971C-9A26EC52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8001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B1C0E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2D450-031D-40C7-B4D9-FF5ECCD6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43575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STIX/TAXII: optional threat-intelligence exchange—not the public CERT-In incident-report format.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67DC8-4C35-46E9-82E5-3C11F73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CA35A-BA8B-410A-A5AD-9957398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D48A1-FEF8-4AFE-955F-0E92435C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AMA concern resolved: source, format, permission, synthetic label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FA681-9345-42D1-809F-192232FF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0295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07CAFD-BA43-491A-ABBB-92E43A16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INDEPENDENT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1A737-90AD-4970-BAC1-88A1E66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Evidence can be challenged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30301-4577-478C-B100-52D8EEB4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The prototype proves tamper detection locally; it does not claim immutable storage.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2431E-76ED-4204-BB24-8A0E3FB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0FDD0-3BC1-4954-B571-B688418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0DA37-74AB-483A-97EE-A050F8E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GENESIS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B87EA-2221-471A-9712-9007E50A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771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4123B-3090-4FAC-B7DB-D05ED586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95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513ED-540A-4A7C-973B-710AA42F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2ACA0-118A-4BB6-A442-68C9F7F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89062-513B-4492-A90C-D6B7560A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prev_hash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E9030-0EDB-45EA-96FD-2A21AD3F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71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2FE94-AD79-4B26-B6CE-C273610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95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1B235-BD2F-4FCE-911B-9E574AD8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CBAE2-CC71-4265-ACE0-7AF0663C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91C26-4D65-4882-AAE6-FD39862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prev_hash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BD5C9-F029-4E65-BF4B-61EDEEF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71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AC7C4-3B50-4246-8FC9-042BFD5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95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9BCD8-5FC4-4EC7-9F7C-6C3CAC8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30BF6-38F3-42B3-B044-A6A9C7FA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B3D1E-4E45-4265-9B63-2477D38C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prev_hash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A6901-8267-43F1-9EF3-BD7008DA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71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B80A9-BA76-471F-8DED-5CE5D748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95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2F278-B8E8-4917-B30C-7789AABA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BBFEB-DEE3-496E-A6C4-4F2E572A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F712F-6CAE-4240-BC83-290EDA51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prev_hash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20C3B-89DB-4C2F-B54C-957B1AB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71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F2836-0F71-4BB2-B82C-22BE6207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95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5AD28-EE90-406B-9047-CFFB477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51C7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C4C920-6B40-4EF0-A154-88BCD0E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657B11-AD0D-4DA5-B2AD-C4D83B8E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prev_hash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A8386-0A33-4C52-BC1F-37E08E0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15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A58FE-39C5-42DE-8D71-52CF0A0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95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9415D"/>
          </a:solidFill>
          <a:ln xmlns:a="http://schemas.openxmlformats.org/drawingml/2006/main" w="0">
            <a:solidFill>
              <a:srgbClr val="29415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353B34-51F4-43D4-A062-F9D6240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33625"/>
            <a:ext cx="1200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491DEE-65ED-48DC-8429-9846535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57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CB2DB0-84F5-469D-AA08-FCA10309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527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prev_hash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9FE680-941C-4177-ADF3-7BB4741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619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B35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27CBF7-5CF1-4EB3-B483-C05E0C8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GENUINE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E4BBBB-174A-43A3-90B3-68FBAC3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10B60-1B4E-455D-A441-26B56841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4619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2161C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2CF1A2-37D9-4F5A-88DA-EAB0A13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6B6B"/>
                </a:solidFill>
                <a:latin typeface="Helvetica Neue"/>
                <a:ea typeface="Helvetica Neue"/>
                <a:cs typeface="Helvetica Neue"/>
              </a:rPr>
              <a:t>ONE RECORD ALTERED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B89F7B-071D-4B3B-A3EB-6ACB95EA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434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DC2367-A09A-467C-91B1-A5731FD1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Prototype boundary: SHA-256 hash chain + standalone verifier. S3 Object Lock and KMS signing are future controls until demonstrated.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EC8CFC-9A38-4D52-829B-2AE988E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FE076E-FB28-4B79-A803-AC818A7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F208E4-04E6-4A42-8030-8F5C03D7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7 linked blocks · genuine passes · tampered fails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2DBD50-B5E3-4D37-9A6C-06D52DC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982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836B1-42F5-44C7-B1AC-11E4232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C7C2"/>
                </a:solidFill>
                <a:latin typeface="Helvetica Neue"/>
                <a:ea typeface="Helvetica Neue"/>
                <a:cs typeface="Helvetica Neue"/>
              </a:rPr>
              <a:t>DEMO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AEC35-5364-4AB6-BB89-5D19C985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From AI lead to accountable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0FC50-F618-4E3C-908B-81240CA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525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Three beats. Ninety seconds. Every claim visible on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89A2-88DE-49DA-9141-7F894963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4C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89720-642F-4C7E-9C79-57A8A8C8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C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BAFFA-511B-4837-9E68-EC454DD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9364E-F135-4B34-A69A-AF011569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Dashboard + ES|QL</a:t>
            </a:r>
          </a:p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12 events · ₹11.6L · 5 accounts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9E668-A26F-4A2B-8023-52584E60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238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6783A-18B5-44C3-A707-AFBABD84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2DCC5-6FAA-45B7-B685-64A86C4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5F359-47F2-4F0C-978E-8712EB1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Flag unsupported certainty</a:t>
            </a:r>
          </a:p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Keep source alerts attached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18A12-665F-4253-A54E-A6257271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238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1B2B"/>
          </a:solidFill>
          <a:ln xmlns:a="http://schemas.openxmlformats.org/drawingml/2006/main" w="19050">
            <a:solidFill>
              <a:srgbClr val="62D4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06FA9-68EC-4CD7-AB18-01C58347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49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3EC37-B6C9-4793-9F8C-A2D96A8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DECIDE +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4D35F-88A4-499C-A742-19B75AE0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Human HOLD</a:t>
            </a:r>
          </a:p>
          <a:p xmlns:a="http://schemas.openxmlformats.org/drawingml/2006/main">
            <a:pPr algn="l">
              <a:def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Genuine PASS · tampered 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C8396-6547-47AD-9CEB-2FC5748F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39009-406D-4BF6-94CA-C7C3F18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45B"/>
                </a:solidFill>
                <a:latin typeface="Helvetica Neue"/>
                <a:ea typeface="Helvetica Neue"/>
                <a:cs typeface="Helvetica Neue"/>
              </a:rPr>
              <a:t>EVENT-DAY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4BAED-0539-4BEB-B32C-29FCAAF1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7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Rebuild in the official repo, disclose prior rehearsal, and prove an AWS-hosted LLM path before claiming compliance.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02056-0E05-4C4A-9E6B-38143514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149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The rehearsal removes platform risk; it does not replace the judged build.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A8CE1-BE01-4CFE-9402-4C1D0705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A1DBE-4875-4BED-A8E7-7B4A01F9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VIGIL · VERIFIED REHEARSAL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DF7B0-4B04-4D2B-852F-9BE884D0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15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Evidence before conclusions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BB073-012F-4B60-9C75-9A38BB4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9B7C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9303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2026-09-07T01:55:22.6600000Z</dcterms:created>
  <dcterms:modified xsi:type="dcterms:W3CDTF">2026-09-07T01:55:22.6600000Z</dcterms:modified>
</coreProperties>
</file>